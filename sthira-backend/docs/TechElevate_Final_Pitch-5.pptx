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123 123" userId="57fa69e10afa2533" providerId="LiveId" clId="{60089DBB-53DB-4782-B62F-2497764847EF}"/>
    <pc:docChg chg="undo custSel modSld">
      <pc:chgData name="123 123" userId="57fa69e10afa2533" providerId="LiveId" clId="{60089DBB-53DB-4782-B62F-2497764847EF}" dt="2026-10-21T18:01:55.359" v="290" actId="1076"/>
      <pc:docMkLst>
        <pc:docMk/>
      </pc:docMkLst>
      <pc:sldChg chg="modSp mod">
        <pc:chgData name="123 123" userId="57fa69e10afa2533" providerId="LiveId" clId="{60089DBB-53DB-4782-B62F-2497764847EF}" dt="2026-10-21T18:01:55.359" v="290" actId="1076"/>
        <pc:sldMkLst>
          <pc:docMk/>
          <pc:sldMk cId="0" sldId="258"/>
        </pc:sldMkLst>
        <pc:spChg chg="mod">
          <ac:chgData name="123 123" userId="57fa69e10afa2533" providerId="LiveId" clId="{60089DBB-53DB-4782-B62F-2497764847EF}" dt="2026-10-21T18:01:55.359" v="290" actId="1076"/>
          <ac:spMkLst>
            <pc:docMk/>
            <pc:sldMk cId="0" sldId="258"/>
            <ac:spMk id="10" creationId="{00000000-0000-0000-0000-000000000000}"/>
          </ac:spMkLst>
        </pc:spChg>
      </pc:sldChg>
      <pc:sldChg chg="modSp mod">
        <pc:chgData name="123 123" userId="57fa69e10afa2533" providerId="LiveId" clId="{60089DBB-53DB-4782-B62F-2497764847EF}" dt="2026-10-19T11:40:20.326" v="289" actId="20577"/>
        <pc:sldMkLst>
          <pc:docMk/>
          <pc:sldMk cId="0" sldId="262"/>
        </pc:sldMkLst>
        <pc:graphicFrameChg chg="modGraphic">
          <ac:chgData name="123 123" userId="57fa69e10afa2533" providerId="LiveId" clId="{60089DBB-53DB-4782-B62F-2497764847EF}" dt="2026-10-19T11:40:20.326" v="289" actId="20577"/>
          <ac:graphicFrameMkLst>
            <pc:docMk/>
            <pc:sldMk cId="0" sldId="262"/>
            <ac:graphicFrameMk id="8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1112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54680" y="2011680"/>
            <a:ext cx="8366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Rebar Rebels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2514600" y="2606040"/>
            <a:ext cx="9006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- ARE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18211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343400" y="3758184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Campus Structural Health Monitoring System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4325112"/>
            <a:ext cx="8732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STHIRA : Structural Health Inspector &amp; Risk Assessment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371600"/>
            <a:ext cx="640080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9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STHIRA: measuring cracks to the millimetre with just a smartphone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09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campus audits fall short</a:t>
            </a:r>
            <a:endParaRPr lang="en-US" sz="160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inspections happen once every 3–5 years, and they can't tell harmless plaster shrinkage from a serious shear crack.</a:t>
            </a:r>
            <a:endParaRPr lang="en-US" sz="160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NDT equipment costs ₹2,00,000 or more. Ordinary AI crack detectors struggle too, because a photo has no sense of scale: a 0.2 mm hairline crack can look like a 3 mm one when zoomed in.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09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(software only, scoped for a 10-hour build)</a:t>
            </a:r>
            <a:endParaRPr lang="en-US" sz="160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Scale from a marker.</a:t>
            </a:r>
            <a:r>
              <a:rPr lang="en-US" sz="125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printed 5 cm ArUco sticker, or a normal 85.6 mm college ID card, corrects camera tilt and gives an exact mm-per-pixel scale. No extra hardware.</a:t>
            </a:r>
            <a:endParaRPr lang="en-US" sz="160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Width along the whole crack.</a:t>
            </a:r>
            <a:r>
              <a:rPr lang="en-US" sz="125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 thin the crack to a 1-pixel line and use the Euclidean Distance Transform (EDT) to read its width in mm at every point. The crack angle (PCA) flags dangerous 45° shear cracks.</a:t>
            </a:r>
            <a:endParaRPr lang="en-US" sz="160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Coin-tap sound test (ASTM D4580).</a:t>
            </a:r>
            <a:r>
              <a:rPr lang="en-US" sz="125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phone mic records a ₹5 coin tap at 48 kHz, and an FFT shows hidden voids: below 900 Hz is hollow, above 1,400 Hz is solid concrete.</a:t>
            </a:r>
            <a:endParaRPr lang="en-US" sz="160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IS 456:2000 and CPWD costing.</a:t>
            </a:r>
            <a:r>
              <a:rPr lang="en-US" sz="125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Results go into a Building Health Index on a campus map, with a repair Bill of Quantities in ₹.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60920" y="137160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6E"/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Capture:</a:t>
            </a:r>
            <a:r>
              <a:rPr lang="en-US" sz="12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crack photo with ArUco marker + 3 s coin-tap audio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418320" y="1956816"/>
            <a:ext cx="0" cy="118872"/>
          </a:xfrm>
          <a:prstGeom prst="line">
            <a:avLst/>
          </a:prstGeom>
          <a:noFill/>
          <a:ln w="22225">
            <a:solidFill>
              <a:srgbClr val="00966E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7360920" y="2093976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6E"/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Preprocess (OpenCV):</a:t>
            </a:r>
            <a:r>
              <a:rPr lang="en-US" sz="12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remove shadows, set exact mm/px scale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418320" y="2679192"/>
            <a:ext cx="0" cy="118872"/>
          </a:xfrm>
          <a:prstGeom prst="line">
            <a:avLst/>
          </a:prstGeom>
          <a:noFill/>
          <a:ln w="22225">
            <a:solidFill>
              <a:srgbClr val="00966E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7360920" y="2816352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6E"/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Analyse:</a:t>
            </a:r>
            <a:r>
              <a:rPr lang="en-US" sz="12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crack width heatmap + audio FFT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18320" y="3401568"/>
            <a:ext cx="0" cy="118872"/>
          </a:xfrm>
          <a:prstGeom prst="line">
            <a:avLst/>
          </a:prstGeom>
          <a:noFill/>
          <a:ln w="22225">
            <a:solidFill>
              <a:srgbClr val="00966E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360920" y="3538728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6E"/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Report:</a:t>
            </a:r>
            <a:r>
              <a:rPr lang="en-US" sz="12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456 check, health score, campus map, repair cost (₹)</a:t>
            </a:r>
            <a:endParaRPr lang="en-US" sz="1200" dirty="0"/>
          </a:p>
        </p:txBody>
      </p:sp>
      <p:pic>
        <p:nvPicPr>
          <p:cNvPr id="10" name="Image 0" descr="Close-up of a diagonal crack in a plastered w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4251960"/>
            <a:ext cx="3196642" cy="1463040"/>
          </a:xfrm>
          <a:prstGeom prst="rect">
            <a:avLst/>
          </a:prstGeom>
        </p:spPr>
      </p:pic>
      <p:pic>
        <p:nvPicPr>
          <p:cNvPr id="11" name="Image 1" descr="Vertical hairline crack running down from a ceiling corn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9002" y="4251960"/>
            <a:ext cx="826718" cy="1463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57607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crack photos (stock images)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53312"/>
            <a:ext cx="250317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6E"/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r>
              <a:rPr lang="en-US" sz="11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phone camera, ArUco / ID-card marker, 48 kHz mic (.WAV tap)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207258" y="1751076"/>
            <a:ext cx="237744" cy="0"/>
          </a:xfrm>
          <a:prstGeom prst="line">
            <a:avLst/>
          </a:prstGeom>
          <a:noFill/>
          <a:ln w="22225">
            <a:solidFill>
              <a:srgbClr val="00966E"/>
            </a:solidFill>
            <a:prstDash val="solid"/>
            <a:tailEnd type="triangle"/>
          </a:ln>
        </p:spPr>
      </p:sp>
      <p:sp>
        <p:nvSpPr>
          <p:cNvPr id="4" name="Text 2"/>
          <p:cNvSpPr/>
          <p:nvPr/>
        </p:nvSpPr>
        <p:spPr>
          <a:xfrm>
            <a:off x="3463290" y="1353312"/>
            <a:ext cx="250317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6E"/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(OpenCV):</a:t>
            </a:r>
            <a:r>
              <a:rPr lang="en-US" sz="11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CLAHE in LAB colour to remove shadows, 3x3 perspective warp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84748" y="1751076"/>
            <a:ext cx="237744" cy="0"/>
          </a:xfrm>
          <a:prstGeom prst="line">
            <a:avLst/>
          </a:prstGeom>
          <a:noFill/>
          <a:ln w="22225">
            <a:solidFill>
              <a:srgbClr val="00966E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6240780" y="1353312"/>
            <a:ext cx="250317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6E"/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</a:t>
            </a:r>
            <a:r>
              <a:rPr lang="en-US" sz="11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YOLOv8-Seg / adaptive mask, 1-px skeleton + EDT width, SciPy FFT spectrum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762238" y="1751076"/>
            <a:ext cx="237744" cy="0"/>
          </a:xfrm>
          <a:prstGeom prst="line">
            <a:avLst/>
          </a:prstGeom>
          <a:noFill/>
          <a:ln w="22225">
            <a:solidFill>
              <a:srgbClr val="00966E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9018270" y="1353312"/>
            <a:ext cx="250317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6E"/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(Streamlit + Folium):</a:t>
            </a:r>
            <a:r>
              <a:rPr lang="en-US" sz="11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campus health map, IS 456 alert, CPWD cost PDF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331720"/>
            <a:ext cx="64008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09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maths behind it</a:t>
            </a:r>
            <a:endParaRPr lang="en-US" sz="13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(mm/px) = marker width (50 mm) ÷ marker width in the warped image (px)</a:t>
            </a:r>
            <a:endParaRPr lang="en-US" sz="13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width W(x,y) = 2 × EDT(skeleton pixel) × scale</a:t>
            </a:r>
            <a:endParaRPr lang="en-US" sz="13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angle α comes from PCA on the skeleton. 30°–60° is treated as diagonal shear.</a:t>
            </a:r>
            <a:endParaRPr lang="en-US" sz="135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Audio: a dominant FFT peak above 1,400 Hz suggests solid concrete, below 900 Hz an internal void. These are starting thresholds, to be tuned on campus samples.</a:t>
            </a:r>
            <a:endParaRPr lang="en-US" sz="13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09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sources</a:t>
            </a:r>
            <a:endParaRPr lang="en-US" sz="13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Images: Crack500 (pixel masks) to fine-tune YOLOv8-Seg, SDNET2018 for crack / no-crack checks, plus campus photos we will collect with ArUco markers.</a:t>
            </a:r>
            <a:endParaRPr lang="en-US" sz="13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Audio: 48 kHz .wav coin-tap recordings we will record on solid concrete columns and on hollow panels.</a:t>
            </a:r>
            <a:endParaRPr lang="en-US" sz="13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Standards: IS 456:2000 crack width limits (0.1–0.3 mm) and CPWD DSR repair rates.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296912" y="2261616"/>
            <a:ext cx="2011680" cy="1146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CC9B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88352" y="233172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&amp; Streamlit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and backend in one</a:t>
            </a:r>
            <a:endParaRPr lang="en-US" sz="1200" dirty="0"/>
          </a:p>
        </p:txBody>
      </p:sp>
      <p:pic>
        <p:nvPicPr>
          <p:cNvPr id="12" name="Image 0" descr="python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28" y="2989388"/>
            <a:ext cx="859536" cy="278768"/>
          </a:xfrm>
          <a:prstGeom prst="rect">
            <a:avLst/>
          </a:prstGeom>
        </p:spPr>
      </p:pic>
      <p:pic>
        <p:nvPicPr>
          <p:cNvPr id="13" name="Image 1" descr="streamlit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7616" y="3061341"/>
            <a:ext cx="859536" cy="134861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464040" y="2286000"/>
            <a:ext cx="2011680" cy="1146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CC9BB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537192" y="233172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(cv2.aruco)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Homography and CLAHE</a:t>
            </a:r>
            <a:endParaRPr lang="en-US" sz="1200" dirty="0"/>
          </a:p>
        </p:txBody>
      </p:sp>
      <p:pic>
        <p:nvPicPr>
          <p:cNvPr id="16" name="Image 2" descr="opencv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6961" y="2889504"/>
            <a:ext cx="365837" cy="47853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315200" y="3541776"/>
            <a:ext cx="2011680" cy="1146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CC9BB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388352" y="3587496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YOLOv8-Seg &amp; scikit-learn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mask and PCA crack angle</a:t>
            </a:r>
            <a:endParaRPr lang="en-US" sz="1200" dirty="0"/>
          </a:p>
        </p:txBody>
      </p:sp>
      <p:pic>
        <p:nvPicPr>
          <p:cNvPr id="19" name="Image 3" descr="yolo 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4928" y="4250246"/>
            <a:ext cx="859536" cy="268605"/>
          </a:xfrm>
          <a:prstGeom prst="rect">
            <a:avLst/>
          </a:prstGeom>
        </p:spPr>
      </p:pic>
      <p:pic>
        <p:nvPicPr>
          <p:cNvPr id="20" name="Image 4" descr="sklearn log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7616" y="4147625"/>
            <a:ext cx="859536" cy="473847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9464040" y="3541776"/>
            <a:ext cx="2011680" cy="1146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CC9BB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9537192" y="3587496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(edt &amp; fft)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Sub-mm width and audio spectrum</a:t>
            </a:r>
            <a:endParaRPr lang="en-US" sz="1200" dirty="0"/>
          </a:p>
        </p:txBody>
      </p:sp>
      <p:pic>
        <p:nvPicPr>
          <p:cNvPr id="23" name="Image 5" descr="scipy_w 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23627" y="4145280"/>
            <a:ext cx="1092507" cy="478536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7315200" y="4797552"/>
            <a:ext cx="2011680" cy="1146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CC9BB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7388352" y="4843272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/ Leaflet.js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campus health map</a:t>
            </a:r>
            <a:endParaRPr lang="en-US" sz="1200" dirty="0"/>
          </a:p>
        </p:txBody>
      </p:sp>
      <p:pic>
        <p:nvPicPr>
          <p:cNvPr id="26" name="Image 6" descr="leaflet log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86835" y="5401056"/>
            <a:ext cx="1668409" cy="478536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9464040" y="4797552"/>
            <a:ext cx="2011680" cy="1146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CC9BB"/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9537192" y="4843272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&amp; ReportLab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history and CPWD BoQ PDF</a:t>
            </a:r>
            <a:endParaRPr lang="en-US" sz="1200" dirty="0"/>
          </a:p>
        </p:txBody>
      </p:sp>
      <p:pic>
        <p:nvPicPr>
          <p:cNvPr id="29" name="Image 7" descr="sqlite logo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73768" y="5437100"/>
            <a:ext cx="859536" cy="406447"/>
          </a:xfrm>
          <a:prstGeom prst="rect">
            <a:avLst/>
          </a:prstGeom>
        </p:spPr>
      </p:pic>
      <p:pic>
        <p:nvPicPr>
          <p:cNvPr id="30" name="Image 8" descr="reportlab 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06456" y="5534117"/>
            <a:ext cx="859536" cy="2124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789920" cy="2057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/ Problem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Conventional Civil Audit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AI Classifier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STHIRA (Ours)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₹50,000 – ₹2,50,000+ rigs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 (phone camera)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 (phone + ArUco / ID card + ₹5 coin)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distance bias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plastic scale card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Fails: no physical scale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Marker + 3x3 homography give true mm/px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Curved crack width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Judged by eye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Fails: bounding box error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1-px skeleton + EDT heatmap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internal voids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Destructive core drilling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Fails: surface photo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kHz coin-tap FFT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 0"/>
          <p:cNvSpPr txBox="1"/>
          <p:nvPr/>
        </p:nvSpPr>
        <p:spPr>
          <a:xfrm>
            <a:off x="685800" y="3520440"/>
            <a:ext cx="65836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9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handle the hard cases</a:t>
            </a:r>
            <a:endParaRPr lang="en-US" sz="13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Shadows and glare in corridors.</a:t>
            </a:r>
            <a:r>
              <a:rPr lang="en-US" sz="13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 apply CLAHE in LAB colour space before segmentation, so shadows aren't mistaken for cracks.</a:t>
            </a:r>
            <a:endParaRPr lang="en-US" sz="13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Plaster vs. structural cracks.</a:t>
            </a:r>
            <a:r>
              <a:rPr lang="en-US" sz="13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the visible crack is over 0.3 mm but the coin-tap FFT is above 1,400 Hz (solid) and the angle is outside 30°–60°, it is marked as surface plaster spalling. This avoids false alarms.</a:t>
            </a:r>
            <a:endParaRPr lang="en-US" sz="13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Noise during the tap test.</a:t>
            </a:r>
            <a:r>
              <a:rPr lang="en-US" sz="13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600 Hz high-pass filter and a 50 ms window around the tap peak pick out the coin and ignore speech.</a:t>
            </a:r>
            <a:endParaRPr lang="en-US" sz="1300" dirty="0"/>
          </a:p>
          <a:p>
            <a:pPr marL="177800" indent="-177800" algn="l">
              <a:buSzPct val="100000"/>
              <a:buChar char="•"/>
            </a:pPr>
            <a:r>
              <a:rPr lang="en-US" sz="13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Doable in 10 hours.</a:t>
            </a:r>
            <a:r>
              <a:rPr lang="en-US" sz="13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Pure Python and Streamlit, no custom hardware, no multi-day GPU training.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498080" y="35204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rule engine labels a crack</a:t>
            </a:r>
            <a:endParaRPr lang="en-US" sz="12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3840480"/>
          <a:ext cx="3977640" cy="186537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 sound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Angle 30°–60°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Shear risk: inspect first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0.3 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900 Hz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Void risk: inspect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0.3 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1,400 Hz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Plaster spalling: cosmetic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0.1–0.3 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1,400 Hz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Minor: seal and monitor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0.1 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1,400 Hz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Hairline shrinkage: no 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CC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498080" y="576072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start from IS 456 and ASTM D4580 and get tuned on campus samples.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371600"/>
            <a:ext cx="5074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09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50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staff become the sensors.</a:t>
            </a:r>
            <a:r>
              <a:rPr lang="en-US" sz="14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5,000+ people already carry a smartphone, so there is no hardware to buy.</a:t>
            </a:r>
            <a:endParaRPr lang="en-US" sz="150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audit costs.</a:t>
            </a:r>
            <a:r>
              <a:rPr lang="en-US" sz="14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Harmless hairline shrinkage cracks (under 0.1 mm) are filtered out, so the Estate Office calls structural consultants only for real defects. Audit effort goes only where it is needed.</a:t>
            </a:r>
            <a:endParaRPr lang="en-US" sz="1500" dirty="0"/>
          </a:p>
          <a:p>
            <a:pPr marL="177800" indent="-177800" algn="l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budgets in rupees.</a:t>
            </a:r>
            <a:r>
              <a:rPr lang="en-US" sz="14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Bill of Quantities compares options such as epoxy injection grouting and polymer mortar plastering, using CPWD DSR rates.</a:t>
            </a:r>
            <a:endParaRPr lang="en-US" sz="1500" dirty="0"/>
          </a:p>
          <a:p>
            <a:pPr marL="177800" indent="-177800" algn="l">
              <a:buSzPct val="100000"/>
              <a:buChar char="•"/>
            </a:pPr>
            <a:r>
              <a:rPr lang="en-US" sz="14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buildings.</a:t>
            </a:r>
            <a:r>
              <a:rPr lang="en-US" sz="14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456:2000 limits are used to flag 45° shear cracks and ceiling delamination before they turn into accidents.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080760" y="137160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9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1500" dirty="0"/>
          </a:p>
          <a:p>
            <a:pPr marL="177800" indent="-177800" algn="l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2, tracking crack growth.</a:t>
            </a:r>
            <a:r>
              <a:rPr lang="en-US" sz="125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Photos taken months apart are aligned with ORB feature matching to give crack growth speed in mm/month.</a:t>
            </a:r>
            <a:endParaRPr lang="en-US" sz="1500" dirty="0"/>
          </a:p>
          <a:p>
            <a:pPr marL="177800" indent="-177800" algn="l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3, high ceilings without a marker.</a:t>
            </a:r>
            <a:r>
              <a:rPr lang="en-US" sz="125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Monocular depth (Depth Anything V2) plus the phone's gyroscope tilt angle (θ) lets us measure cracks on 30-ft auditorium ceilings without stickers.</a:t>
            </a:r>
            <a:endParaRPr lang="en-US" sz="1500" dirty="0"/>
          </a:p>
          <a:p>
            <a:pPr marL="177800" indent="-177800" algn="l">
              <a:buSzPct val="100000"/>
              <a:buChar char="•"/>
            </a:pPr>
            <a:r>
              <a:rPr lang="en-US" sz="125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4, drones and city scale.</a:t>
            </a:r>
            <a:r>
              <a:rPr lang="en-US" sz="125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 the same pipeline on campus inspection drones and on municipal bridge and housing portals.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80760" y="438912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6E"/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(Hackathon MVP):</a:t>
            </a:r>
            <a:r>
              <a:rPr lang="en-US" sz="12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ArUco + EDT + coin-tap FFT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62672" y="5029200"/>
            <a:ext cx="310896" cy="0"/>
          </a:xfrm>
          <a:prstGeom prst="line">
            <a:avLst/>
          </a:prstGeom>
          <a:noFill/>
          <a:ln w="22225">
            <a:solidFill>
              <a:srgbClr val="00966E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8001000" y="438912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6E"/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</a:t>
            </a:r>
            <a:r>
              <a:rPr lang="en-US" sz="12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ORB temporal diff + depth AI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582912" y="5029200"/>
            <a:ext cx="310896" cy="0"/>
          </a:xfrm>
          <a:prstGeom prst="line">
            <a:avLst/>
          </a:prstGeom>
          <a:noFill/>
          <a:ln w="22225">
            <a:solidFill>
              <a:srgbClr val="00966E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9921240" y="4389120"/>
            <a:ext cx="1554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6E"/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</a:t>
            </a:r>
            <a:r>
              <a:rPr lang="en-US" sz="120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drone swarm &amp; smart-city twin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37160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and standards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263640" y="13716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and papers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5257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400"/>
              </a:spcAft>
              <a:buNone/>
            </a:pPr>
            <a:r>
              <a:rPr lang="en-US" sz="155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55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456:2000</a:t>
            </a:r>
            <a:r>
              <a:rPr lang="en-US" sz="155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(Bureau of Indian Standards). </a:t>
            </a:r>
            <a:r>
              <a:rPr lang="en-US" sz="1550" i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and Reinforced Concrete – Code of Practice</a:t>
            </a:r>
            <a:r>
              <a:rPr lang="en-US" sz="155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Clause 35.3.2. Permissible surface crack width: 0.3 mm for mild exposure, 0.2 mm moderate, 0.1 mm severe.</a:t>
            </a:r>
            <a:endParaRPr lang="en-US" sz="1550" dirty="0"/>
          </a:p>
          <a:p>
            <a:pPr marL="0" indent="0" algn="l">
              <a:spcAft>
                <a:spcPts val="2400"/>
              </a:spcAft>
              <a:buNone/>
            </a:pPr>
            <a:r>
              <a:rPr lang="en-US" sz="155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55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ASTM D4580</a:t>
            </a:r>
            <a:r>
              <a:rPr lang="en-US" sz="155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(acoustic sounding). </a:t>
            </a:r>
            <a:r>
              <a:rPr lang="en-US" sz="1550" i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Practice for Measuring Delaminations in Concrete Bridge Decks by Sounding</a:t>
            </a:r>
            <a:r>
              <a:rPr lang="en-US" sz="155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basis for our coin-tap method.</a:t>
            </a:r>
            <a:endParaRPr lang="en-US" sz="1550" dirty="0"/>
          </a:p>
          <a:p>
            <a:pPr marL="0" indent="0" algn="l">
              <a:spcAft>
                <a:spcPts val="2400"/>
              </a:spcAft>
              <a:buNone/>
            </a:pPr>
            <a:r>
              <a:rPr lang="en-US" sz="155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55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CPWD Handbook &amp; DSR</a:t>
            </a:r>
            <a:r>
              <a:rPr lang="en-US" sz="155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(Central Public Works Dept). </a:t>
            </a:r>
            <a:r>
              <a:rPr lang="en-US" sz="1550" i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on Repair and Rehabilitation of RCC Buildings</a:t>
            </a:r>
            <a:r>
              <a:rPr lang="en-US" sz="155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Delhi Schedule of Rates, used for the automated repair estimate.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828800"/>
            <a:ext cx="5212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400"/>
              </a:spcAft>
              <a:buNone/>
            </a:pPr>
            <a:r>
              <a:rPr lang="en-US" sz="155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55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Crack500 &amp; DeepCrack.</a:t>
            </a:r>
            <a:r>
              <a:rPr lang="en-US" sz="155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et al., </a:t>
            </a:r>
            <a:r>
              <a:rPr lang="en-US" sz="1550" i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"Feature Pyramid and Hierarchical Boosting Network for Pavement Crack Detection"</a:t>
            </a:r>
            <a:r>
              <a:rPr lang="en-US" sz="155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IEEE Transactions on Intelligent Transportation Systems.</a:t>
            </a:r>
            <a:endParaRPr lang="en-US" sz="1550" dirty="0"/>
          </a:p>
          <a:p>
            <a:pPr marL="0" indent="0" algn="l">
              <a:spcAft>
                <a:spcPts val="2400"/>
              </a:spcAft>
              <a:buNone/>
            </a:pPr>
            <a:r>
              <a:rPr lang="en-US" sz="155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55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SDNET2018.</a:t>
            </a:r>
            <a:r>
              <a:rPr lang="en-US" sz="155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Dorafshan et al., </a:t>
            </a:r>
            <a:r>
              <a:rPr lang="en-US" sz="1550" i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"SDNET2018: An annotated image dataset for non-contact concrete crack detection using deep CNNs"</a:t>
            </a:r>
            <a:r>
              <a:rPr lang="en-US" sz="155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Data in Brief (230,000+ images).</a:t>
            </a:r>
            <a:endParaRPr lang="en-US" sz="1550" dirty="0"/>
          </a:p>
          <a:p>
            <a:pPr marL="0" indent="0" algn="l">
              <a:spcAft>
                <a:spcPts val="2400"/>
              </a:spcAft>
              <a:buNone/>
            </a:pPr>
            <a:r>
              <a:rPr lang="en-US" sz="155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r>
              <a:rPr lang="en-US" sz="155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ArUco calibration.</a:t>
            </a:r>
            <a:r>
              <a:rPr lang="en-US" sz="155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Garrido-Jurado et al., </a:t>
            </a:r>
            <a:r>
              <a:rPr lang="en-US" sz="1550" i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"Automatic generation and detection of highly reliable fiducial markers under occlusion"</a:t>
            </a:r>
            <a:r>
              <a:rPr lang="en-US" sz="1550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Pattern Recognition.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776019"/>
              </p:ext>
            </p:extLst>
          </p:nvPr>
        </p:nvGraphicFramePr>
        <p:xfrm>
          <a:off x="1325880" y="2743200"/>
          <a:ext cx="9957816" cy="3557016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4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69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Aniket Singh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260901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aniketsingh_260901@aitpune.edu.in</a:t>
                      </a:r>
                    </a:p>
                  </a:txBody>
                  <a:tcPr marL="73152" marR="73152" marT="18288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Harshul Singal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260942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harshulsingal_260942@aitpune.edu.in</a:t>
                      </a:r>
                    </a:p>
                  </a:txBody>
                  <a:tcPr marL="73152" marR="73152" marT="18288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Mahima </a:t>
                      </a:r>
                      <a:r>
                        <a:rPr lang="en-US" sz="1500" dirty="0" err="1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Khedar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260956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mahimakhedar</a:t>
                      </a:r>
                      <a:r>
                        <a:rPr lang="en-US" sz="1200">
                          <a:latin typeface="Calibri" charset="0"/>
                          <a:ea typeface="Calibri" charset="0"/>
                          <a:cs typeface="Calibri" charset="0"/>
                        </a:rPr>
                        <a:t>_260956@</a:t>
                      </a: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aitpune.edu.in</a:t>
                      </a:r>
                    </a:p>
                  </a:txBody>
                  <a:tcPr marL="73152" marR="73152" marT="18288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Neeraj Kumar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2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261093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neerajkumar_261093@aitpune.edu.in</a:t>
                      </a:r>
                    </a:p>
                  </a:txBody>
                  <a:tcPr marL="73152" marR="73152" marT="18288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1401</Words>
  <Application>Microsoft Office PowerPoint</Application>
  <PresentationFormat>Widescreen</PresentationFormat>
  <Paragraphs>128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TechElevate Final Pitch</dc:title>
  <dc:subject>PptxGenJS Presentation</dc:subject>
  <dc:creator>PptxGenJS</dc:creator>
  <cp:lastModifiedBy>123 123</cp:lastModifiedBy>
  <cp:revision>1</cp:revision>
  <dcterms:created xsi:type="dcterms:W3CDTF">2026-10-19T11:28:47Z</dcterms:created>
  <dcterms:modified xsi:type="dcterms:W3CDTF">2026-10-21T18:02:06Z</dcterms:modified>
</cp:coreProperties>
</file>